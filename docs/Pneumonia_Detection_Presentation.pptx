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85b3f4e-9b1c-7a6b-f69d-c5903f3a25c5}">
          <p14:sldIdLst>
            <p14:sldId id="256"/>
            <p14:sldId id="257"/>
          </p14:sldIdLst>
        </p14:section>
        <p14:section name="Method" id="{8694c1d7-7d77-e091-ae15-d07ebd23b524}">
          <p14:sldIdLst>
            <p14:sldId id="258"/>
            <p14:sldId id="259"/>
            <p14:sldId id="260"/>
          </p14:sldIdLst>
        </p14:section>
        <p14:section name="Results" id="{c2346e66-42bb-8606-5cde-50ae1933b129}">
          <p14:sldIdLst>
            <p14:sldId id="261"/>
            <p14:sldId id="262"/>
            <p14:sldId id="263"/>
            <p14:sldId id="264"/>
          </p14:sldIdLst>
        </p14:section>
        <p14:section name="Conclusion" id="{31b9dcf0-1edd-6dff-6140-a805956aba46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F172A"/>
                </a:solidFill>
                <a:latin typeface="+mn-lt"/>
              </a:rPr>
              <a:t>Images per class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Train</c:v>
                  </c:pt>
                  <c:pt idx="1">
                    <c:v>Test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1341</c:v>
                </c:pt>
                <c:pt idx="1">
                  <c:v>234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PNEUMONIA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Train</c:v>
                  </c:pt>
                  <c:pt idx="1">
                    <c:v>Test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3875</c:v>
                </c:pt>
                <c:pt idx="1">
                  <c:v>390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automated system that classifies chest X-rays as normal or pneumonia, comparing a CNN built from scratch with a transfer-learning model, and explaining predictions with Grad-CAM.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matters: missing a pneumonia case (false negative) is far more dangerous than a false alarm, so recall/sensitivity is our main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Training: 1,341 normal vs 3,875 pneumonia. Test: 234 vs 390. The imbalance is handled with inverse-frequency class weights in the loss. The test set is never used for training or model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pipeline for both models, so the comparison is fair. Class weights stop the model from just predicting the majority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baseline shows what a CNN can learn from this dataset alone. ResNet50 reuses features learned on ImageNet; we freeze early layers (generic edges/textures) and fine-tune deeper layers to adapt to X-rays.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= TP/(TP+FN) = 388/390. Specificity = TN/(TN+FP) = 153/234. Precision is lower because of false positives on normal X-rays.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stopping on validation loss kept the best checkpoint for each model (ResNet50 best at epoch 7, val loss 0.031).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Transfer learning reduces both error types. The ROC curve shows ResNet50 dominating at almost every threshold; the threshold could be tuned to trade sensitivity for specificity.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Grad-CAM weights the last convolutional feature maps by their gradients for the predicted class. Red = regions that most influenced the decision. This builds trust and exposes models that 'cheat'.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main message: transfer learning plus explainability gives an accurate and trustworthy pneumonia screening aid, but it needs external validation before any clinical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ung icon bg"/>
          <p:cNvSpPr/>
          <p:nvPr/>
        </p:nvSpPr>
        <p:spPr>
          <a:xfrm>
            <a:off x="5684368" y="1143000"/>
            <a:ext cx="822960" cy="8229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3" name="lu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6567" y="1365199"/>
            <a:ext cx="378562" cy="37856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2148840"/>
            <a:ext cx="99971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Pneumonia Detection from Chest X‑rays using Deep Learning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356616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vs. fine-tuned ResNet50, with Grad-CAM explainability</a:t>
            </a:r>
            <a:endParaRPr lang="en-US" sz="2000" dirty="0"/>
          </a:p>
        </p:txBody>
      </p:sp>
      <p:sp>
        <p:nvSpPr>
          <p:cNvPr id="6" name="divider"/>
          <p:cNvSpPr/>
          <p:nvPr/>
        </p:nvSpPr>
        <p:spPr>
          <a:xfrm>
            <a:off x="5638648" y="4343400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28800" y="4617720"/>
            <a:ext cx="8534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Harshita Chokhani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No: 2430010505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&amp; Objective</a:t>
            </a:r>
            <a:endParaRPr lang="en-US" sz="2800" dirty="0"/>
          </a:p>
        </p:txBody>
      </p:sp>
      <p:sp>
        <p:nvSpPr>
          <p:cNvPr id="3" name="objective card 1"/>
          <p:cNvSpPr/>
          <p:nvPr/>
        </p:nvSpPr>
        <p:spPr>
          <a:xfrm>
            <a:off x="548640" y="1554480"/>
            <a:ext cx="3423818" cy="3657600"/>
          </a:xfrm>
          <a:prstGeom prst="roundRect">
            <a:avLst>
              <a:gd name="adj" fmla="val 21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objective icon 1 bg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5" name="objectiv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209306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78892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challenge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337560"/>
            <a:ext cx="27837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 is a leading cause of death in children under five worldwide. Diagnosis relies on radiologists reading chest X-rays, which is slow and scarce in many regions.</a:t>
            </a:r>
            <a:endParaRPr lang="en-US" sz="1600" dirty="0"/>
          </a:p>
        </p:txBody>
      </p:sp>
      <p:sp>
        <p:nvSpPr>
          <p:cNvPr id="8" name="objective card 2"/>
          <p:cNvSpPr/>
          <p:nvPr/>
        </p:nvSpPr>
        <p:spPr>
          <a:xfrm>
            <a:off x="4246778" y="1554480"/>
            <a:ext cx="3423818" cy="3657600"/>
          </a:xfrm>
          <a:prstGeom prst="roundRect">
            <a:avLst>
              <a:gd name="adj" fmla="val 21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objective icon 2 bg"/>
          <p:cNvSpPr/>
          <p:nvPr/>
        </p:nvSpPr>
        <p:spPr>
          <a:xfrm>
            <a:off x="4566818" y="1920240"/>
            <a:ext cx="640080" cy="6400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10" name="objectiv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640" y="2093062"/>
            <a:ext cx="294437" cy="2944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78892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objective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566818" y="3337560"/>
            <a:ext cx="27837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deep learning model that classifies a chest X-ray as NORMAL or PNEUMONIA, prioritising sensitivity so that sick patients are not missed.</a:t>
            </a:r>
            <a:endParaRPr lang="en-US" sz="1600" dirty="0"/>
          </a:p>
        </p:txBody>
      </p:sp>
      <p:sp>
        <p:nvSpPr>
          <p:cNvPr id="13" name="objective card 3"/>
          <p:cNvSpPr/>
          <p:nvPr/>
        </p:nvSpPr>
        <p:spPr>
          <a:xfrm>
            <a:off x="7944917" y="1554480"/>
            <a:ext cx="3423818" cy="3657600"/>
          </a:xfrm>
          <a:prstGeom prst="roundRect">
            <a:avLst>
              <a:gd name="adj" fmla="val 21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objective icon 3 bg"/>
          <p:cNvSpPr/>
          <p:nvPr/>
        </p:nvSpPr>
        <p:spPr>
          <a:xfrm>
            <a:off x="8264957" y="1920240"/>
            <a:ext cx="640080" cy="6400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15" name="objective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778" y="2093062"/>
            <a:ext cx="294437" cy="29443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64957" y="278892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scope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264957" y="3337560"/>
            <a:ext cx="278373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custom CNN trained from scratch against a fine-tuned ResNet50, evaluate both on an unseen test set, and explain predictions with Grad-CAM.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Dataset: Chest X-Ray Images (Pneumonia)</a:t>
            </a:r>
            <a:endParaRPr lang="en-US" sz="2800" dirty="0"/>
          </a:p>
        </p:txBody>
      </p:sp>
      <p:sp>
        <p:nvSpPr>
          <p:cNvPr id="3" name="stat card 1"/>
          <p:cNvSpPr/>
          <p:nvPr/>
        </p:nvSpPr>
        <p:spPr>
          <a:xfrm>
            <a:off x="548640" y="141732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270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5,856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305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paediatric chest X-rays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548640" y="278892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986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02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NORMAL / PNEUMONIA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548640" y="416052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2702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 : 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73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6235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Kermany et al., Cell (2018), via Kaggle. The official validation set has only 16 images, so a stratified 85/15 split of the training set was used for validation.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937760" y="1325880"/>
          <a:ext cx="66751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Methodology: The Core Pipeline</a:t>
            </a:r>
            <a:endParaRPr lang="en-US" sz="2800" dirty="0"/>
          </a:p>
        </p:txBody>
      </p:sp>
      <p:sp>
        <p:nvSpPr>
          <p:cNvPr id="3" name="step card 1"/>
          <p:cNvSpPr/>
          <p:nvPr/>
        </p:nvSpPr>
        <p:spPr>
          <a:xfrm>
            <a:off x="548640" y="1463040"/>
            <a:ext cx="3362858" cy="4023360"/>
          </a:xfrm>
          <a:prstGeom prst="roundRect">
            <a:avLst>
              <a:gd name="adj" fmla="val 21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tep icon 1 bg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5" name="step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200162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5176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Preprocessing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46120"/>
            <a:ext cx="272277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to 3 channels, resize to 224×224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normalisation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rotation ±10°, shift, zoom, brightness/contrast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horizontal flip (the heart makes X-rays asymmetric)</a:t>
            </a:r>
            <a:endParaRPr lang="en-US" sz="1500" dirty="0"/>
          </a:p>
        </p:txBody>
      </p:sp>
      <p:pic>
        <p:nvPicPr>
          <p:cNvPr id="8" name="flow arrow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514" y="3566160"/>
            <a:ext cx="246888" cy="246888"/>
          </a:xfrm>
          <a:prstGeom prst="rect">
            <a:avLst/>
          </a:prstGeom>
        </p:spPr>
      </p:pic>
      <p:sp>
        <p:nvSpPr>
          <p:cNvPr id="9" name="step card 2"/>
          <p:cNvSpPr/>
          <p:nvPr/>
        </p:nvSpPr>
        <p:spPr>
          <a:xfrm>
            <a:off x="4414418" y="1463040"/>
            <a:ext cx="3362858" cy="4023360"/>
          </a:xfrm>
          <a:prstGeom prst="roundRect">
            <a:avLst>
              <a:gd name="adj" fmla="val 21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tep icon 2 bg"/>
          <p:cNvSpPr/>
          <p:nvPr/>
        </p:nvSpPr>
        <p:spPr>
          <a:xfrm>
            <a:off x="4734458" y="1828800"/>
            <a:ext cx="640080" cy="6400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11" name="step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280" y="2001622"/>
            <a:ext cx="294437" cy="29443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734458" y="265176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Model Training</a:t>
            </a:r>
            <a:endParaRPr lang="en-US" sz="1900" dirty="0"/>
          </a:p>
        </p:txBody>
      </p:sp>
      <p:sp>
        <p:nvSpPr>
          <p:cNvPr id="13" name="Text 8"/>
          <p:cNvSpPr txBox="1"/>
          <p:nvPr/>
        </p:nvSpPr>
        <p:spPr>
          <a:xfrm>
            <a:off x="4734458" y="3246120"/>
            <a:ext cx="272277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cross-entropy for class imbalance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optimiser + ReduceLROnPlateau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on validation loss (patience 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saved automatically</a:t>
            </a:r>
            <a:endParaRPr lang="en-US" sz="1500" dirty="0"/>
          </a:p>
        </p:txBody>
      </p:sp>
      <p:pic>
        <p:nvPicPr>
          <p:cNvPr id="14" name="flow arrow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293" y="3566160"/>
            <a:ext cx="246888" cy="246888"/>
          </a:xfrm>
          <a:prstGeom prst="rect">
            <a:avLst/>
          </a:prstGeom>
        </p:spPr>
      </p:pic>
      <p:sp>
        <p:nvSpPr>
          <p:cNvPr id="15" name="step card 3"/>
          <p:cNvSpPr/>
          <p:nvPr/>
        </p:nvSpPr>
        <p:spPr>
          <a:xfrm>
            <a:off x="8280197" y="1463040"/>
            <a:ext cx="3362858" cy="4023360"/>
          </a:xfrm>
          <a:prstGeom prst="roundRect">
            <a:avLst>
              <a:gd name="adj" fmla="val 21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tep icon 3 bg"/>
          <p:cNvSpPr/>
          <p:nvPr/>
        </p:nvSpPr>
        <p:spPr>
          <a:xfrm>
            <a:off x="8600237" y="1828800"/>
            <a:ext cx="640080" cy="6400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17" name="step icon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3058" y="2001622"/>
            <a:ext cx="294437" cy="29443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600237" y="2651760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Evaluation</a:t>
            </a:r>
            <a:endParaRPr lang="en-US" sz="1900" dirty="0"/>
          </a:p>
        </p:txBody>
      </p:sp>
      <p:sp>
        <p:nvSpPr>
          <p:cNvPr id="19" name="Text 12"/>
          <p:cNvSpPr txBox="1"/>
          <p:nvPr/>
        </p:nvSpPr>
        <p:spPr>
          <a:xfrm>
            <a:off x="8600237" y="3246120"/>
            <a:ext cx="272277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 (624 images)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specificity, F1, ROC-AUC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and ROC curves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heatmaps for explainability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Architectures Compared</a:t>
            </a:r>
            <a:endParaRPr lang="en-US" sz="2800" dirty="0"/>
          </a:p>
        </p:txBody>
      </p:sp>
      <p:sp>
        <p:nvSpPr>
          <p:cNvPr id="3" name="model card 1"/>
          <p:cNvSpPr/>
          <p:nvPr/>
        </p:nvSpPr>
        <p:spPr>
          <a:xfrm>
            <a:off x="548640" y="1417320"/>
            <a:ext cx="5318608" cy="3931920"/>
          </a:xfrm>
          <a:prstGeom prst="roundRect">
            <a:avLst>
              <a:gd name="adj" fmla="val 186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Baseline CNN (from scratch)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1.21 M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parameters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91840"/>
            <a:ext cx="45870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convolutional blocks (Conv–BN–ReLU ×2 + MaxPool)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→ 64 → 128 → 256 filters, global average pooling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0.5 / 0.3 in the classifier head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epochs · 21.1 min on a T4 GPU</a:t>
            </a:r>
            <a:endParaRPr lang="en-US" sz="1600" dirty="0"/>
          </a:p>
        </p:txBody>
      </p:sp>
      <p:sp>
        <p:nvSpPr>
          <p:cNvPr id="7" name="model card 2"/>
          <p:cNvSpPr/>
          <p:nvPr/>
        </p:nvSpPr>
        <p:spPr>
          <a:xfrm>
            <a:off x="6324448" y="1417320"/>
            <a:ext cx="5318608" cy="3931920"/>
          </a:xfrm>
          <a:prstGeom prst="roundRect">
            <a:avLst>
              <a:gd name="adj" fmla="val 1860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90208" y="1737360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ResNet50 (transfer learning)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90208" y="2331720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23.5 M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parameters (22.1 M fine-tuned)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90208" y="3291840"/>
            <a:ext cx="45870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ImageNet (1.2 M natural images)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layers frozen; layer3, layer4 and head fine-tuned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head: Dropout 0.4 + Linear (2 classes)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epochs (early stopped) · 16.8 min on a T4 GPU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Results: Test-Set Evaluation Metrics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CNN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 (fine-tuned)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4" name="result stat 1"/>
          <p:cNvSpPr/>
          <p:nvPr/>
        </p:nvSpPr>
        <p:spPr>
          <a:xfrm>
            <a:off x="548640" y="342900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356616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+4.3 pts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224528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gain with transfer learning</a:t>
            </a:r>
            <a:endParaRPr lang="en-US" sz="1400" dirty="0"/>
          </a:p>
        </p:txBody>
      </p:sp>
      <p:sp>
        <p:nvSpPr>
          <p:cNvPr id="7" name="result stat 2"/>
          <p:cNvSpPr/>
          <p:nvPr/>
        </p:nvSpPr>
        <p:spPr>
          <a:xfrm>
            <a:off x="4368698" y="342900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43018" y="356616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99.5%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4643018" y="4224528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only 2 of 390 pneumonia cases missed</a:t>
            </a:r>
            <a:endParaRPr lang="en-US" sz="1400" dirty="0"/>
          </a:p>
        </p:txBody>
      </p:sp>
      <p:sp>
        <p:nvSpPr>
          <p:cNvPr id="10" name="result stat 3"/>
          <p:cNvSpPr/>
          <p:nvPr/>
        </p:nvSpPr>
        <p:spPr>
          <a:xfrm>
            <a:off x="8188757" y="342900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63077" y="356616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0.963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463077" y="4224528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for ResNet50</a:t>
            </a:r>
            <a:endParaRPr lang="en-US" sz="1400" dirty="0"/>
          </a:p>
        </p:txBody>
      </p:sp>
      <p:sp>
        <p:nvSpPr>
          <p:cNvPr id="13" name="analysis box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5230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beats the baseline on every metric. Both models favour sensitivity over specificity, which is the right trade-off for screening: a false alarm leads to a second look, while a missed case can be fatal.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Results: Training Behaviour</a:t>
            </a:r>
            <a:endParaRPr lang="en-US" sz="2800" dirty="0"/>
          </a:p>
        </p:txBody>
      </p:sp>
      <p:pic>
        <p:nvPicPr>
          <p:cNvPr id="3" name="baseline curves" descr="imgs/curves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364328" cy="1950665"/>
          </a:xfrm>
          <a:prstGeom prst="rect">
            <a:avLst/>
          </a:prstGeom>
        </p:spPr>
      </p:pic>
      <p:pic>
        <p:nvPicPr>
          <p:cNvPr id="4" name="resnet curves" descr="imgs/curves_resn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508760"/>
            <a:ext cx="5364328" cy="195066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550865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CNN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6278728" y="3550865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300" dirty="0"/>
          </a:p>
        </p:txBody>
      </p:sp>
      <p:sp>
        <p:nvSpPr>
          <p:cNvPr id="7" name="observation 1"/>
          <p:cNvSpPr/>
          <p:nvPr/>
        </p:nvSpPr>
        <p:spPr>
          <a:xfrm>
            <a:off x="548640" y="4069080"/>
            <a:ext cx="5364328" cy="128016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4251960"/>
            <a:ext cx="481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is unstable.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Validation loss jumps at epoch 7 (val accuracy drops to 71.5%): learning from scratch on ~4.4k images is noisy.</a:t>
            </a:r>
            <a:endParaRPr lang="en-US" sz="1500" dirty="0"/>
          </a:p>
        </p:txBody>
      </p:sp>
      <p:sp>
        <p:nvSpPr>
          <p:cNvPr id="9" name="observation 2"/>
          <p:cNvSpPr/>
          <p:nvPr/>
        </p:nvSpPr>
        <p:spPr>
          <a:xfrm>
            <a:off x="6278728" y="4069080"/>
            <a:ext cx="5364328" cy="128016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553048" y="4251960"/>
            <a:ext cx="481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converges fast and smoothly.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96% validation accuracy after one epoch, 99% by epoch 6, thanks to pre-trained features.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Results: Confusion Matrices &amp; ROC Curve</a:t>
            </a:r>
            <a:endParaRPr lang="en-US" sz="2800" dirty="0"/>
          </a:p>
        </p:txBody>
      </p:sp>
      <p:pic>
        <p:nvPicPr>
          <p:cNvPr id="3" name="baseline confusion matrix" descr="imgs/cm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703320" cy="3291840"/>
          </a:xfrm>
          <a:prstGeom prst="rect">
            <a:avLst/>
          </a:prstGeom>
        </p:spPr>
      </p:pic>
      <p:pic>
        <p:nvPicPr>
          <p:cNvPr id="4" name="resnet confusion matrix" descr="imgs/cm_resn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336" y="1371600"/>
            <a:ext cx="3703320" cy="3291840"/>
          </a:xfrm>
          <a:prstGeom prst="rect">
            <a:avLst/>
          </a:prstGeom>
        </p:spPr>
      </p:pic>
      <p:pic>
        <p:nvPicPr>
          <p:cNvPr id="5" name="roc curve" descr="imgs/ro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031" y="1371600"/>
            <a:ext cx="3621024" cy="3291840"/>
          </a:xfrm>
          <a:prstGeom prst="rect">
            <a:avLst/>
          </a:prstGeom>
        </p:spPr>
      </p:pic>
      <p:sp>
        <p:nvSpPr>
          <p:cNvPr id="6" name="cm stat 1"/>
          <p:cNvSpPr/>
          <p:nvPr/>
        </p:nvSpPr>
        <p:spPr>
          <a:xfrm>
            <a:off x="548640" y="4937760"/>
            <a:ext cx="3454298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822960" y="5029200"/>
            <a:ext cx="2905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→ 2</a:t>
            </a:r>
            <a:endParaRPr lang="en-US" sz="2600" dirty="0"/>
          </a:p>
        </p:txBody>
      </p:sp>
      <p:sp>
        <p:nvSpPr>
          <p:cNvPr id="8" name="Text 3"/>
          <p:cNvSpPr txBox="1"/>
          <p:nvPr/>
        </p:nvSpPr>
        <p:spPr>
          <a:xfrm>
            <a:off x="822960" y="564184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pneumonia (FN) · baseline → ResNet50</a:t>
            </a:r>
            <a:endParaRPr lang="en-US" sz="1300" dirty="0"/>
          </a:p>
        </p:txBody>
      </p:sp>
      <p:sp>
        <p:nvSpPr>
          <p:cNvPr id="9" name="cm stat 2"/>
          <p:cNvSpPr/>
          <p:nvPr/>
        </p:nvSpPr>
        <p:spPr>
          <a:xfrm>
            <a:off x="4368698" y="4937760"/>
            <a:ext cx="3454298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4643018" y="5029200"/>
            <a:ext cx="2905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105 → 81</a:t>
            </a:r>
            <a:endParaRPr lang="en-US" sz="2600" dirty="0"/>
          </a:p>
        </p:txBody>
      </p:sp>
      <p:sp>
        <p:nvSpPr>
          <p:cNvPr id="11" name="Text 6"/>
          <p:cNvSpPr txBox="1"/>
          <p:nvPr/>
        </p:nvSpPr>
        <p:spPr>
          <a:xfrm>
            <a:off x="4643018" y="564184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(FP) · baseline → ResNet50</a:t>
            </a:r>
            <a:endParaRPr lang="en-US" sz="1300" dirty="0"/>
          </a:p>
        </p:txBody>
      </p:sp>
      <p:sp>
        <p:nvSpPr>
          <p:cNvPr id="12" name="cm stat 3"/>
          <p:cNvSpPr/>
          <p:nvPr/>
        </p:nvSpPr>
        <p:spPr>
          <a:xfrm>
            <a:off x="8188757" y="4937760"/>
            <a:ext cx="3454298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463077" y="5029200"/>
            <a:ext cx="2905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0.939 → 0.963</a:t>
            </a:r>
            <a:endParaRPr lang="en-US" sz="2600" dirty="0"/>
          </a:p>
        </p:txBody>
      </p:sp>
      <p:sp>
        <p:nvSpPr>
          <p:cNvPr id="14" name="Text 9"/>
          <p:cNvSpPr txBox="1"/>
          <p:nvPr/>
        </p:nvSpPr>
        <p:spPr>
          <a:xfrm>
            <a:off x="8463077" y="5641848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· baseline → ResNet50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Explainability: Grad-CAM Heatmaps</a:t>
            </a:r>
            <a:endParaRPr lang="en-US" sz="2800" dirty="0"/>
          </a:p>
        </p:txBody>
      </p:sp>
      <p:pic>
        <p:nvPicPr>
          <p:cNvPr id="3" name="baseline gradcam" descr="imgs/gradcam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863840" cy="2117188"/>
          </a:xfrm>
          <a:prstGeom prst="rect">
            <a:avLst/>
          </a:prstGeom>
        </p:spPr>
      </p:pic>
      <p:pic>
        <p:nvPicPr>
          <p:cNvPr id="4" name="resnet gradcam" descr="imgs/gradcam_resn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17388"/>
            <a:ext cx="7863840" cy="2117188"/>
          </a:xfrm>
          <a:prstGeom prst="rect">
            <a:avLst/>
          </a:prstGeom>
        </p:spPr>
      </p:pic>
      <p:sp>
        <p:nvSpPr>
          <p:cNvPr id="5" name="gradcam note 1"/>
          <p:cNvSpPr/>
          <p:nvPr/>
        </p:nvSpPr>
        <p:spPr>
          <a:xfrm>
            <a:off x="8778240" y="1280160"/>
            <a:ext cx="2864815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gradcam icon 1 bg"/>
          <p:cNvSpPr/>
          <p:nvPr/>
        </p:nvSpPr>
        <p:spPr>
          <a:xfrm>
            <a:off x="9006840" y="1508760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7" name="gradcam icon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284" y="1632204"/>
            <a:ext cx="210312" cy="21031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601200" y="1554480"/>
            <a:ext cx="1858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Baseline CNN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9006840" y="2103120"/>
            <a:ext cx="24076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 X-rays it often looks at the collar bones and diaphragm edges, not the lungs: a sign of shortcut learning. 1 of 4 normals misclassified.</a:t>
            </a:r>
            <a:endParaRPr lang="en-US" sz="1300" dirty="0"/>
          </a:p>
        </p:txBody>
      </p:sp>
      <p:sp>
        <p:nvSpPr>
          <p:cNvPr id="10" name="gradcam note 2"/>
          <p:cNvSpPr/>
          <p:nvPr/>
        </p:nvSpPr>
        <p:spPr>
          <a:xfrm>
            <a:off x="8778240" y="3794760"/>
            <a:ext cx="2864815" cy="2286000"/>
          </a:xfrm>
          <a:prstGeom prst="roundRect">
            <a:avLst>
              <a:gd name="adj" fmla="val 3200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gradcam icon 2 bg"/>
          <p:cNvSpPr/>
          <p:nvPr/>
        </p:nvSpPr>
        <p:spPr>
          <a:xfrm>
            <a:off x="9006840" y="4023360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12" name="gradcam icon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284" y="4146804"/>
            <a:ext cx="210312" cy="21031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601200" y="4069080"/>
            <a:ext cx="1858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ResNet50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9006840" y="4617720"/>
            <a:ext cx="24076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falls inside the chest cavity, on the lung fields and opacity regions. All 8 samples classified correctly with high confidence.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3" name="conclusion card 1"/>
          <p:cNvSpPr/>
          <p:nvPr/>
        </p:nvSpPr>
        <p:spPr>
          <a:xfrm>
            <a:off x="548640" y="1417320"/>
            <a:ext cx="3454298" cy="3611880"/>
          </a:xfrm>
          <a:prstGeom prst="roundRect">
            <a:avLst>
              <a:gd name="adj" fmla="val 2118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0565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(ResNet50) outperformed a CNN trained from scratch on every metric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recall: suitable as a screening aid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confirms ResNet50 focuses on clinically relevant lung regions</a:t>
            </a:r>
            <a:endParaRPr lang="en-US" sz="1400" dirty="0"/>
          </a:p>
        </p:txBody>
      </p:sp>
      <p:sp>
        <p:nvSpPr>
          <p:cNvPr id="6" name="conclusion card 2"/>
          <p:cNvSpPr/>
          <p:nvPr/>
        </p:nvSpPr>
        <p:spPr>
          <a:xfrm>
            <a:off x="4368698" y="1417320"/>
            <a:ext cx="3454298" cy="3611880"/>
          </a:xfrm>
          <a:prstGeom prst="roundRect">
            <a:avLst>
              <a:gd name="adj" fmla="val 21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43018" y="164592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643018" y="2194560"/>
            <a:ext cx="290565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Single-hospital paediatric data; may not generalise to adults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of 65%: many false alarms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(97–99%) vs test (87%) gap shows distribution shift</a:t>
            </a:r>
            <a:endParaRPr lang="en-US" sz="1400" dirty="0"/>
          </a:p>
        </p:txBody>
      </p:sp>
      <p:sp>
        <p:nvSpPr>
          <p:cNvPr id="9" name="conclusion card 3"/>
          <p:cNvSpPr/>
          <p:nvPr/>
        </p:nvSpPr>
        <p:spPr>
          <a:xfrm>
            <a:off x="8188757" y="1417320"/>
            <a:ext cx="3454298" cy="3611880"/>
          </a:xfrm>
          <a:prstGeom prst="roundRect">
            <a:avLst>
              <a:gd name="adj" fmla="val 21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63077" y="164592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463077" y="2194560"/>
            <a:ext cx="290565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decision threshold for better specificity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external data (e.g. NIH ChestX-ray14)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Multi-class: bacterial vs viral pneumonia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03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 · Questions?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neumonia Detection">
  <a:themeElements>
    <a:clrScheme name="Pneumonia Detection">
      <a:dk1>
        <a:srgbClr val="0F172A"/>
      </a:dk1>
      <a:lt1>
        <a:srgbClr val="FFFFFF"/>
      </a:lt1>
      <a:dk2>
        <a:srgbClr val="475569"/>
      </a:dk2>
      <a:lt2>
        <a:srgbClr val="F8FAFC"/>
      </a:lt2>
      <a:accent1>
        <a:srgbClr val="2563EB"/>
      </a:accent1>
      <a:accent2>
        <a:srgbClr val="1D4ED8"/>
      </a:accent2>
      <a:accent3>
        <a:srgbClr val="60A5FA"/>
      </a:accent3>
      <a:accent4>
        <a:srgbClr val="64748B"/>
      </a:accent4>
      <a:accent5>
        <a:srgbClr val="16A34A"/>
      </a:accent5>
      <a:accent6>
        <a:srgbClr val="DC2626"/>
      </a:accent6>
      <a:hlink>
        <a:srgbClr val="2563EB"/>
      </a:hlink>
      <a:folHlink>
        <a:srgbClr val="1D4ED8"/>
      </a:folHlink>
    </a:clrScheme>
    <a:fontScheme name="Pneumonia Detection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Pneumonia Detection from Chest X-rays</dc:title>
  <dc:subject>PptxGenJS Presentation</dc:subject>
  <dc:creator>Harshita Chokhani</dc:creator>
  <cp:lastModifiedBy>Harshita Chokhani</cp:lastModifiedBy>
  <cp:revision>1</cp:revision>
  <dcterms:created xsi:type="dcterms:W3CDTF">2026-10-07T16:59:54Z</dcterms:created>
  <dcterms:modified xsi:type="dcterms:W3CDTF">2026-10-07T16:59:54Z</dcterms:modified>
</cp:coreProperties>
</file>